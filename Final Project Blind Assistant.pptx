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73" r:id="rId2"/>
    <p:sldId id="275" r:id="rId3"/>
    <p:sldId id="274" r:id="rId4"/>
    <p:sldId id="286" r:id="rId5"/>
    <p:sldId id="260" r:id="rId6"/>
    <p:sldId id="282" r:id="rId7"/>
    <p:sldId id="276" r:id="rId8"/>
    <p:sldId id="277" r:id="rId9"/>
    <p:sldId id="278" r:id="rId10"/>
    <p:sldId id="279" r:id="rId11"/>
    <p:sldId id="266" r:id="rId12"/>
    <p:sldId id="267" r:id="rId13"/>
    <p:sldId id="268" r:id="rId14"/>
    <p:sldId id="270" r:id="rId15"/>
    <p:sldId id="290" r:id="rId16"/>
    <p:sldId id="269" r:id="rId17"/>
    <p:sldId id="271" r:id="rId18"/>
    <p:sldId id="280" r:id="rId19"/>
    <p:sldId id="283" r:id="rId20"/>
    <p:sldId id="299" r:id="rId21"/>
    <p:sldId id="296" r:id="rId22"/>
    <p:sldId id="287" r:id="rId23"/>
    <p:sldId id="301" r:id="rId24"/>
    <p:sldId id="272" r:id="rId25"/>
    <p:sldId id="281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F86DDA4-36BD-47FB-8462-505213D6ADB8}">
          <p14:sldIdLst>
            <p14:sldId id="273"/>
            <p14:sldId id="275"/>
            <p14:sldId id="274"/>
            <p14:sldId id="286"/>
            <p14:sldId id="260"/>
            <p14:sldId id="282"/>
            <p14:sldId id="276"/>
            <p14:sldId id="277"/>
            <p14:sldId id="278"/>
            <p14:sldId id="279"/>
            <p14:sldId id="266"/>
            <p14:sldId id="267"/>
            <p14:sldId id="268"/>
            <p14:sldId id="270"/>
            <p14:sldId id="290"/>
            <p14:sldId id="269"/>
            <p14:sldId id="271"/>
            <p14:sldId id="280"/>
            <p14:sldId id="283"/>
            <p14:sldId id="299"/>
            <p14:sldId id="296"/>
            <p14:sldId id="287"/>
            <p14:sldId id="301"/>
            <p14:sldId id="272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0" d="100"/>
          <a:sy n="60" d="100"/>
        </p:scale>
        <p:origin x="168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59A19-1472-46ED-BEBF-611370431884}" type="datetimeFigureOut">
              <a:rPr lang="en-IN" smtClean="0"/>
              <a:t>10-05-2026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43F196-E9C2-45EB-9CBF-2FFB0E9EAD99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50AC2-448B-4B6E-B663-B58A13B0D927}" type="datetimeFigureOut">
              <a:rPr lang="en-US" smtClean="0"/>
              <a:t>5/10/2026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68CE0-C434-4E46-93BF-9BD5DBECF557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332740"/>
            <a:ext cx="7772400" cy="5762625"/>
          </a:xfrm>
        </p:spPr>
        <p:txBody>
          <a:bodyPr>
            <a:noAutofit/>
          </a:bodyPr>
          <a:lstStyle/>
          <a:p>
            <a:pPr algn="ctr"/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59715" y="2205355"/>
            <a:ext cx="3140075" cy="1236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827405" y="3068955"/>
            <a:ext cx="5165090" cy="1013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Mrs. A.Reeta Joldrine – AP / AI&amp;DS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08000" y="378696"/>
            <a:ext cx="7950200" cy="2480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VISIONAID ONE: AN INTELLIGENT WEARABLE COMPANION FOR REAL-TIME PERCEPTION AND INDEPENDENCE OF THE VISUALLY IMPAIRED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3200" dirty="0"/>
          </a:p>
        </p:txBody>
      </p:sp>
      <p:sp>
        <p:nvSpPr>
          <p:cNvPr id="6" name="Text Box 5"/>
          <p:cNvSpPr txBox="1"/>
          <p:nvPr/>
        </p:nvSpPr>
        <p:spPr>
          <a:xfrm>
            <a:off x="4716145" y="3789045"/>
            <a:ext cx="3289300" cy="654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003800" y="4263390"/>
            <a:ext cx="3710940" cy="2143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Ranchani R  (815422104038)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Sandhiya S   (815422104045)</a:t>
            </a:r>
          </a:p>
          <a:p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Swetha S      (815422104057)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Selvarani K  (815422104304)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95" y="404813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895" y="1413177"/>
            <a:ext cx="8229600" cy="5286412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wearable system for visually impaired users.</a:t>
            </a:r>
          </a:p>
          <a:p>
            <a:pPr algn="just">
              <a:lnSpc>
                <a:spcPct val="17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real-time object detection and voice feedback.</a:t>
            </a:r>
          </a:p>
          <a:p>
            <a:pPr algn="just">
              <a:lnSpc>
                <a:spcPct val="17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independence and safety in daily life.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72" y="1000108"/>
            <a:ext cx="8013576" cy="5500726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integrates face recognition, obstacle detection, and currency recognition into a single wearable device.</a:t>
            </a:r>
          </a:p>
          <a:p>
            <a:pPr algn="just">
              <a:lnSpc>
                <a:spcPct val="17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techniques such as the Grassmann model, YOLO, and Convolutional Neural Networks enable accurate real-time audio feedback.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captures real-time images using a camera.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286412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object and obstacle detection.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Recognizes faces and identifies currency.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visual information into voice output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independence and safety for visually impaired users.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06400" y="1181096"/>
          <a:ext cx="8380440" cy="5248299"/>
        </p:xfrm>
        <a:graphic>
          <a:graphicData uri="http://schemas.openxmlformats.org/drawingml/2006/table">
            <a:tbl>
              <a:tblPr/>
              <a:tblGrid>
                <a:gridCol w="1676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514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849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object detection technology to identify defects in clothing for blind people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fr-F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Rocha, Daniel, et al. (2023)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Detection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visually impaired identify defects in clothing efficiently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clothing-related applications, not general-purpose navigation or recognition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860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detection and recognition using TensorFlow for blind people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it-IT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Darshan A, Mirapure, Pakhamode Dipam, Shirpurkar Rina (2024)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TensorFlow-based Object Detection &amp; Recognition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Assists blind users in recognizing objects in real-time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have limited accuracy in complex or dynamic environments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54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Salient object detection for images taken by people with vision impairments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Reynolds, Jarek, Chandra Kanth Nagesh, Danna Gurari (2024)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Salient Object Detection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detection of important objects in images captured by visually impaired users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good image quality; may miss less salient but important objects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860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Unknown sniffer for object detection: Don't turn a blind eye to unknown objects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Liang, Wenteng, et al. (2023)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Unknown Object Detection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detect previously unseen or unknown objects, enhancing safety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intensive; may produce false positives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154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Pathfinder: Designing a map-less navigation system for blind people in unfamiliar buildings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fi-FI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Kuribayashi, Masaki, et al. (2023)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Map-less Navigation System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navigation in unknown indoor environments without pre-built maps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only on indoor navigation; does not handle face or currency recognition</a:t>
                      </a:r>
                    </a:p>
                  </a:txBody>
                  <a:tcPr marL="36613" marR="36613" marT="18306" marB="18306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5720" y="785794"/>
          <a:ext cx="8572560" cy="58344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14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100" b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IN" sz="1100" b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100" b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  <a:endParaRPr lang="en-IN" sz="1100" b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  <a:endParaRPr lang="en-IN" sz="1100" b="1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61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Distance assessment by object detection for visually impaired assistive mechatronic system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Dragne et al., 2022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deep learning-based object detection combined with distance estimation sensors to assist visually impaired users in identifying obstacles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real-time obstacle detection, improves mobility safety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high processing power, limited performance in low-light conditions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11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accessibility for low vision and blind people using machine learning and computer vision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Shukurov, 2024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machine learning and computer vision techniques for object recognition and environmental understanding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accessibility, adaptable to different environments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depends heavily on dataset quality, computationally expensive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117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object detection algorithm-based braille image generation system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&amp; Cho, 2022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object detection algorithms to recognize real-life objects and convert them into braille images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tactile learning, improves object recognition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hardware setup, slower response time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86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LidSonic for visually impaired: assistive smart glasses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Busaeed et al., 2022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smart glasses using green ML with sensors, Arduino, and mobile app integration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efficient, portable, real-time feedback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detection range, depends on device calibration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86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 of explainable AI on AI-supported decision-making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Janssen et al., 2022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Studied explainable AI systems through experiments with government decision-makers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trust in AI systems, better transparency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directly focused on assistive technology, implementation complexity</a:t>
                      </a:r>
                      <a:endParaRPr lang="en-IN" sz="1100" dirty="0">
                        <a:latin typeface="Times New Roman" panose="02020603050405020304" pitchFamily="18" charset="0"/>
                        <a:ea typeface="Calibri" panose="020F0502020204030204"/>
                        <a:cs typeface="Times New Roman" panose="02020603050405020304" pitchFamily="18" charset="0"/>
                      </a:endParaRPr>
                    </a:p>
                  </a:txBody>
                  <a:tcPr marL="5037" marR="5037" marT="5037" marB="503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57216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cane and guide dogs.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Smartphone-based apps with limitations.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continuous real-time perception support.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 systems exist to help visually impaired users identify people.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95" y="1413177"/>
            <a:ext cx="8229600" cy="52864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accurately identifying different types of objects.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lighting conditions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continuous power supply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detection range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03" y="837230"/>
            <a:ext cx="8329642" cy="557216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wearable device with camera and sensors.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deep learning for object detection.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visual information into audio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286412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all functions into a single wearable device.</a:t>
            </a:r>
          </a:p>
          <a:p>
            <a:pPr algn="just">
              <a:lnSpc>
                <a:spcPct val="17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assistance</a:t>
            </a:r>
          </a:p>
          <a:p>
            <a:pPr algn="just">
              <a:lnSpc>
                <a:spcPct val="17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user-friendly</a:t>
            </a:r>
          </a:p>
          <a:p>
            <a:pPr algn="just">
              <a:lnSpc>
                <a:spcPct val="17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others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355" name="Picture 13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000109"/>
            <a:ext cx="8286808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5286412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</a:t>
            </a:r>
          </a:p>
          <a:p>
            <a:pPr algn="just" fontAlgn="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</a:p>
          <a:p>
            <a:pPr algn="just" fontAlgn="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Recognition</a:t>
            </a:r>
          </a:p>
          <a:p>
            <a:pPr algn="just" fontAlgn="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Feedback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1075"/>
            <a:ext cx="8229600" cy="532320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3355" indent="-173355"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and stores real-time image data and known face data.</a:t>
            </a:r>
          </a:p>
          <a:p>
            <a:pPr marL="173355" indent="-173355" algn="just"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and compares data using YOLO, CNN, and face recognition algorithms.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10995" y="3501390"/>
            <a:ext cx="6230620" cy="2883535"/>
            <a:chOff x="3383" y="5627"/>
            <a:chExt cx="8483" cy="3898"/>
          </a:xfrm>
        </p:grpSpPr>
        <p:pic>
          <p:nvPicPr>
            <p:cNvPr id="4" name="Picture 3" descr="val_batch1_labels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3" y="5627"/>
              <a:ext cx="4269" cy="3898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7652" y="5627"/>
              <a:ext cx="2130" cy="3899"/>
            </a:xfrm>
            <a:prstGeom prst="rect">
              <a:avLst/>
            </a:prstGeom>
          </p:spPr>
        </p:pic>
        <p:pic>
          <p:nvPicPr>
            <p:cNvPr id="9" name="Picture 8" descr="train_batch0"/>
            <p:cNvPicPr>
              <a:picLocks noChangeAspect="1"/>
            </p:cNvPicPr>
            <p:nvPr/>
          </p:nvPicPr>
          <p:blipFill>
            <a:blip r:embed="rId4"/>
            <a:srcRect r="48719"/>
            <a:stretch>
              <a:fillRect/>
            </a:stretch>
          </p:blipFill>
          <p:spPr>
            <a:xfrm>
              <a:off x="9782" y="5627"/>
              <a:ext cx="2084" cy="38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970" y="333042"/>
            <a:ext cx="8229600" cy="52864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0850" indent="-450850" algn="just">
              <a:lnSpc>
                <a:spcPct val="17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YOLOv8 deep learning algorithm for real-time detection.</a:t>
            </a:r>
          </a:p>
          <a:p>
            <a:pPr marL="450850" indent="-450850" algn="just">
              <a:lnSpc>
                <a:spcPct val="17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and classifies multiple objects with bounding boxes.</a:t>
            </a:r>
          </a:p>
          <a:p>
            <a:pPr marL="450850" indent="-450850" algn="just">
              <a:lnSpc>
                <a:spcPct val="17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detected object names for voice output assistance.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113347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1043608" y="3789040"/>
            <a:ext cx="6665808" cy="2389897"/>
            <a:chOff x="3004" y="6031"/>
            <a:chExt cx="9093" cy="2956"/>
          </a:xfrm>
        </p:grpSpPr>
        <p:pic>
          <p:nvPicPr>
            <p:cNvPr id="2" name="Picture 1" descr="train_batch0"/>
            <p:cNvPicPr>
              <a:picLocks noChangeAspect="1"/>
            </p:cNvPicPr>
            <p:nvPr/>
          </p:nvPicPr>
          <p:blipFill>
            <a:blip r:embed="rId2"/>
            <a:srcRect r="50648"/>
            <a:stretch>
              <a:fillRect/>
            </a:stretch>
          </p:blipFill>
          <p:spPr>
            <a:xfrm>
              <a:off x="3004" y="6031"/>
              <a:ext cx="2262" cy="2955"/>
            </a:xfrm>
            <a:prstGeom prst="rect">
              <a:avLst/>
            </a:prstGeom>
          </p:spPr>
        </p:pic>
        <p:pic>
          <p:nvPicPr>
            <p:cNvPr id="5" name="Picture 4" descr="train_batch1"/>
            <p:cNvPicPr>
              <a:picLocks noChangeAspect="1"/>
            </p:cNvPicPr>
            <p:nvPr/>
          </p:nvPicPr>
          <p:blipFill>
            <a:blip r:embed="rId3"/>
            <a:srcRect r="50000"/>
            <a:stretch>
              <a:fillRect/>
            </a:stretch>
          </p:blipFill>
          <p:spPr>
            <a:xfrm>
              <a:off x="10035" y="6031"/>
              <a:ext cx="2063" cy="2956"/>
            </a:xfrm>
            <a:prstGeom prst="rect">
              <a:avLst/>
            </a:prstGeom>
          </p:spPr>
        </p:pic>
        <p:pic>
          <p:nvPicPr>
            <p:cNvPr id="6" name="Picture 5" descr="train_batch24342"/>
            <p:cNvPicPr>
              <a:picLocks noChangeAspect="1"/>
            </p:cNvPicPr>
            <p:nvPr/>
          </p:nvPicPr>
          <p:blipFill>
            <a:blip r:embed="rId4"/>
            <a:srcRect r="50000"/>
            <a:stretch>
              <a:fillRect/>
            </a:stretch>
          </p:blipFill>
          <p:spPr>
            <a:xfrm>
              <a:off x="5158" y="6031"/>
              <a:ext cx="2279" cy="2955"/>
            </a:xfrm>
            <a:prstGeom prst="rect">
              <a:avLst/>
            </a:prstGeom>
          </p:spPr>
        </p:pic>
        <p:pic>
          <p:nvPicPr>
            <p:cNvPr id="7" name="Picture 6" descr="val_batch2_pred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79" y="6031"/>
              <a:ext cx="2682" cy="2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836930"/>
            <a:ext cx="7400290" cy="5024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115" y="333020"/>
            <a:ext cx="8229600" cy="52864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RECOGNITION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faces from real-time camera input.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Grassman algorithm for accurate identification. Extracts important facial features.</a:t>
            </a:r>
          </a:p>
          <a:p>
            <a:pPr marL="0" indent="0" algn="just">
              <a:lnSpc>
                <a:spcPct val="170000"/>
              </a:lnSpc>
              <a:buFont typeface="Arial" panose="020B0604020202020204" pitchFamily="34" charset="0"/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endParaRPr lang="en-I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 algn="just">
              <a:lnSpc>
                <a:spcPct val="17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87B21F-9E2F-99D5-21AE-E7E93306A2D4}"/>
              </a:ext>
            </a:extLst>
          </p:cNvPr>
          <p:cNvSpPr/>
          <p:nvPr/>
        </p:nvSpPr>
        <p:spPr>
          <a:xfrm>
            <a:off x="2297262" y="3861048"/>
            <a:ext cx="1656184" cy="230425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513" r="-31513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838D3-BFB9-0220-BE8F-791125C14BE7}"/>
              </a:ext>
            </a:extLst>
          </p:cNvPr>
          <p:cNvSpPr/>
          <p:nvPr/>
        </p:nvSpPr>
        <p:spPr>
          <a:xfrm>
            <a:off x="5004048" y="3861048"/>
            <a:ext cx="1564128" cy="230425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2818" r="-2281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4C232-D7EF-3C11-06BF-B9444DAF6A06}"/>
              </a:ext>
            </a:extLst>
          </p:cNvPr>
          <p:cNvSpPr/>
          <p:nvPr/>
        </p:nvSpPr>
        <p:spPr>
          <a:xfrm>
            <a:off x="539115" y="3861048"/>
            <a:ext cx="1656184" cy="2304256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1294" r="-41294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9B16AB-2CA5-F814-9CC5-912954A78A97}"/>
              </a:ext>
            </a:extLst>
          </p:cNvPr>
          <p:cNvSpPr/>
          <p:nvPr/>
        </p:nvSpPr>
        <p:spPr>
          <a:xfrm>
            <a:off x="6650091" y="3861048"/>
            <a:ext cx="1656184" cy="230425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6297" r="-1629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0B586-A618-84C5-E6AB-891BBF283BD0}"/>
              </a:ext>
            </a:extLst>
          </p:cNvPr>
          <p:cNvSpPr txBox="1"/>
          <p:nvPr/>
        </p:nvSpPr>
        <p:spPr>
          <a:xfrm>
            <a:off x="480466" y="3277859"/>
            <a:ext cx="349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person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0A967-07CE-A25C-F6F9-241B3A06E43C}"/>
              </a:ext>
            </a:extLst>
          </p:cNvPr>
          <p:cNvSpPr txBox="1"/>
          <p:nvPr/>
        </p:nvSpPr>
        <p:spPr>
          <a:xfrm>
            <a:off x="4901968" y="3272782"/>
            <a:ext cx="3496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Unknown person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3042"/>
            <a:ext cx="8229600" cy="528641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RECOGNITION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 algn="just">
              <a:lnSpc>
                <a:spcPct val="17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the currency note image using a camera.</a:t>
            </a:r>
          </a:p>
          <a:p>
            <a:pPr marL="266700" indent="-266700" algn="just">
              <a:lnSpc>
                <a:spcPct val="17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CNN for classification. Extracts features like color, number, and design patterns.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968375" y="3068955"/>
            <a:ext cx="7249160" cy="3393440"/>
            <a:chOff x="1417" y="4947"/>
            <a:chExt cx="9959" cy="4910"/>
          </a:xfrm>
        </p:grpSpPr>
        <p:pic>
          <p:nvPicPr>
            <p:cNvPr id="4" name="Picture 3" descr="train_batch0"/>
            <p:cNvPicPr>
              <a:picLocks noChangeAspect="1"/>
            </p:cNvPicPr>
            <p:nvPr/>
          </p:nvPicPr>
          <p:blipFill>
            <a:blip r:embed="rId2"/>
            <a:srcRect r="50000"/>
            <a:stretch>
              <a:fillRect/>
            </a:stretch>
          </p:blipFill>
          <p:spPr>
            <a:xfrm rot="10800000">
              <a:off x="1417" y="4947"/>
              <a:ext cx="2455" cy="4910"/>
            </a:xfrm>
            <a:prstGeom prst="rect">
              <a:avLst/>
            </a:prstGeom>
          </p:spPr>
        </p:pic>
        <p:pic>
          <p:nvPicPr>
            <p:cNvPr id="5" name="Picture 4" descr="train_batch5650"/>
            <p:cNvPicPr>
              <a:picLocks noChangeAspect="1"/>
            </p:cNvPicPr>
            <p:nvPr/>
          </p:nvPicPr>
          <p:blipFill>
            <a:blip r:embed="rId3"/>
            <a:srcRect r="50237"/>
            <a:stretch>
              <a:fillRect/>
            </a:stretch>
          </p:blipFill>
          <p:spPr>
            <a:xfrm>
              <a:off x="6406" y="4947"/>
              <a:ext cx="2390" cy="4909"/>
            </a:xfrm>
            <a:prstGeom prst="rect">
              <a:avLst/>
            </a:prstGeom>
          </p:spPr>
        </p:pic>
        <p:pic>
          <p:nvPicPr>
            <p:cNvPr id="6" name="Picture 5" descr="train_batch5651"/>
            <p:cNvPicPr>
              <a:picLocks noChangeAspect="1"/>
            </p:cNvPicPr>
            <p:nvPr/>
          </p:nvPicPr>
          <p:blipFill>
            <a:blip r:embed="rId4"/>
            <a:srcRect r="51056"/>
            <a:stretch>
              <a:fillRect/>
            </a:stretch>
          </p:blipFill>
          <p:spPr>
            <a:xfrm>
              <a:off x="8796" y="4947"/>
              <a:ext cx="2581" cy="4909"/>
            </a:xfrm>
            <a:prstGeom prst="rect">
              <a:avLst/>
            </a:prstGeom>
          </p:spPr>
        </p:pic>
        <p:pic>
          <p:nvPicPr>
            <p:cNvPr id="7" name="Picture 6" descr="train_batch5652"/>
            <p:cNvPicPr>
              <a:picLocks noChangeAspect="1"/>
            </p:cNvPicPr>
            <p:nvPr/>
          </p:nvPicPr>
          <p:blipFill>
            <a:blip r:embed="rId5"/>
            <a:srcRect l="-2283" t="-881" r="50745" b="881"/>
            <a:stretch>
              <a:fillRect/>
            </a:stretch>
          </p:blipFill>
          <p:spPr>
            <a:xfrm>
              <a:off x="3571" y="4947"/>
              <a:ext cx="2880" cy="49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3042"/>
            <a:ext cx="8229600" cy="52864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FEEDBACK</a:t>
            </a:r>
          </a:p>
          <a:p>
            <a:pPr algn="just">
              <a:lnSpc>
                <a:spcPct val="17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main communication interface between the system and the user.</a:t>
            </a:r>
          </a:p>
          <a:p>
            <a:pPr algn="just">
              <a:lnSpc>
                <a:spcPct val="17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detected results into voice message using Text-to-Speech (TTS)</a:t>
            </a:r>
          </a:p>
          <a:p>
            <a:pPr algn="just">
              <a:lnSpc>
                <a:spcPct val="17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guidance such as “Obstacle ahead” or “Move left”.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2225"/>
            <a:ext cx="8229600" cy="4793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r="10241"/>
          <a:stretch>
            <a:fillRect/>
          </a:stretch>
        </p:blipFill>
        <p:spPr>
          <a:xfrm>
            <a:off x="394970" y="549275"/>
            <a:ext cx="8136890" cy="56375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20688"/>
            <a:ext cx="8784976" cy="54726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BC7340-5349-6CE6-8237-59361F883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38" y="452022"/>
            <a:ext cx="5725324" cy="59539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DC2E-986A-A206-2B33-646C67EF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43BC9-7E37-3529-6456-C5ADD4004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aid one provides real-time environmental awareness to support safe navigation.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wearable design enhances independence, quality of life for visually impaired individuals.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5352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71546"/>
            <a:ext cx="8572560" cy="542928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Rocha, Daniel, et al. "Using object detection technology to identify defects in clothing for blind people." Sensors 23.9 (2023): 4381.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Darshan A, Mirapure, Pakhamode Dipam, and Shirpurkar Rina. "Object detection and recognition using tensorflow for blind people." International Journal of Trend in Scientific Research and Development 8.5 (2024): 747-752.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Reynolds, Jarek, Chandra Kanth Nagesh, and Danna Gurari. "Salient object detection for images taken by people with vision impairments." Proceedings of the IEEE/CVF Winter Conference on Applications of Computer Vision. 2024.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Liang, Wenteng, et al. "Unknown sniffer for object detection: Don't turn a blind eye to unknown objects." Proceedings of the IEEE/CVF conference on computer vision and pattern recognition. 2023.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Kuribayashi, Masaki, et al. "Pathfinder: Designing a map-less navigation system for blind people in unfamiliar buildings." Proceedings of the 2023 CHI Conference on Human Factors in Computing Systems. 2023.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71546"/>
            <a:ext cx="8572560" cy="5429288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Dragne, Ciprian, et al. "Distance assessment by object detection—for visually impaired assistive mechatronic system." Applied Sciences 12.13 (2022): 6342.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Shukurov, Jasur. "Improve accessibility for Low Vision and Blind people using Machine Learning and Computer Vision." arXiv preprint arXiv:2404.00043 (2024).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 Lee, Dayeon, and Jinsoo Cho. "Automatic object detection algorithm-based braille image generation system for the recognition of real-life obstacles for visually impaired people." Sensors 22.4 (2022): 1601.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Busaeed, Sahar, et al. "LidSonic for visually impaired: Green machine learning-based assistive smart glasses with smart app and Arduino." Electronics 11.7 (2022): 1076.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Janssen, Marijn, et al. "Will algorithms blind people? The effect of explainable AI and decision-makers’ experience on AI-supported decision-making in government." Social Science Computer Review 40.2 (2022): 478-493.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1307</Words>
  <Application>Microsoft Office PowerPoint</Application>
  <PresentationFormat>On-screen Show (4:3)</PresentationFormat>
  <Paragraphs>152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Times New Roman</vt:lpstr>
      <vt:lpstr>Office Theme</vt:lpstr>
      <vt:lpstr>   </vt:lpstr>
      <vt:lpstr>OBJECTIVES</vt:lpstr>
      <vt:lpstr>ABSTRACT </vt:lpstr>
      <vt:lpstr>SCOPE</vt:lpstr>
      <vt:lpstr>LITERATURE SURVEY</vt:lpstr>
      <vt:lpstr>LITERATURE SURVEY</vt:lpstr>
      <vt:lpstr>EXISTING SYSTEM</vt:lpstr>
      <vt:lpstr>DISADVANTAGES</vt:lpstr>
      <vt:lpstr>PROPOSED SYSTEM</vt:lpstr>
      <vt:lpstr>ADVANTAGES</vt:lpstr>
      <vt:lpstr>SYSTEM ARCHITECTURE </vt:lpstr>
      <vt:lpstr>MODULES LIST </vt:lpstr>
      <vt:lpstr>MODULES DESCRIPTION </vt:lpstr>
      <vt:lpstr>   </vt:lpstr>
      <vt:lpstr>PowerPoint Presentation</vt:lpstr>
      <vt:lpstr> </vt:lpstr>
      <vt:lpstr>PowerPoint Presentation</vt:lpstr>
      <vt:lpstr>PowerPoint Presentation</vt:lpstr>
      <vt:lpstr>SCREENSHOTS</vt:lpstr>
      <vt:lpstr>PowerPoint Presentation</vt:lpstr>
      <vt:lpstr>PowerPoint Presentation</vt:lpstr>
      <vt:lpstr>PowerPoint Presentation</vt:lpstr>
      <vt:lpstr>CONCLUSION</vt:lpstr>
      <vt:lpstr>REFERENCES 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FantasyApp</dc:creator>
  <cp:lastModifiedBy>Ranchani R</cp:lastModifiedBy>
  <cp:revision>38</cp:revision>
  <dcterms:created xsi:type="dcterms:W3CDTF">2026-01-02T09:04:00Z</dcterms:created>
  <dcterms:modified xsi:type="dcterms:W3CDTF">2026-05-10T13:04:03Z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4F064D820E1342E68FDF0A6AE83945DE_13</vt:lpwstr>
  </property>
  <property fmtid="{D5CDD505-2E9C-101B-9397-08002B2CF9AE}" pid="3" name="KSOProductBuildVer">
    <vt:lpwstr>1033-12.2.0.23196</vt:lpwstr>
  </property>
</Properties>
</file>